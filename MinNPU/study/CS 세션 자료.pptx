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24384000" cy="13716000"/>
  <p:notesSz cx="6858000" cy="9144000"/>
  <p:embeddedFontLst>
    <p:embeddedFont>
      <p:font typeface="210 GGotmangul Regular" panose="020B0600000101010101" charset="-127"/>
      <p:regular r:id="rId29"/>
    </p:embeddedFont>
    <p:embeddedFont>
      <p:font typeface="Pretendard Black" panose="020B0600000101010101" charset="-127"/>
      <p:bold r:id="rId30"/>
    </p:embeddedFont>
    <p:embeddedFont>
      <p:font typeface="Pretendard Bold" panose="020B0600000101010101" charset="-127"/>
      <p:bold r:id="rId31"/>
    </p:embeddedFont>
    <p:embeddedFont>
      <p:font typeface="Pretendard ExtraBold" panose="020B0600000101010101" charset="-127"/>
      <p:bold r:id="rId32"/>
    </p:embeddedFont>
    <p:embeddedFont>
      <p:font typeface="Pretendard Light" panose="020B0600000101010101" charset="-127"/>
      <p:regular r:id="rId33"/>
    </p:embeddedFont>
    <p:embeddedFont>
      <p:font typeface="Pretendard Medium" panose="020B0600000101010101" charset="-127"/>
      <p:bold r:id="rId34"/>
    </p:embeddedFont>
    <p:embeddedFont>
      <p:font typeface="Pretendard Regular" panose="020B0600000101010101" charset="-127"/>
      <p:regular r:id="rId35"/>
    </p:embeddedFont>
    <p:embeddedFont>
      <p:font typeface="Pretendard SemiBold" panose="020B0600000101010101" charset="-127"/>
      <p:bold r:id="rId36"/>
    </p:embeddedFont>
    <p:embeddedFont>
      <p:font typeface="Anek Bangla Expanded Bold" panose="020B0600000101010101" charset="0"/>
      <p:bold r:id="rId37"/>
    </p:embeddedFont>
    <p:embeddedFont>
      <p:font typeface="Anek Bangla Expanded SemiBold" panose="020B0600000101010101" charset="0"/>
      <p:bold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312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15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12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15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4.png"/><Relationship Id="rId3" Type="http://schemas.openxmlformats.org/officeDocument/2006/relationships/image" Target="../media/image3.png"/><Relationship Id="rId7" Type="http://schemas.openxmlformats.org/officeDocument/2006/relationships/image" Target="../media/image39.png"/><Relationship Id="rId12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38.png"/><Relationship Id="rId15" Type="http://schemas.openxmlformats.org/officeDocument/2006/relationships/image" Target="../media/image46.png"/><Relationship Id="rId10" Type="http://schemas.openxmlformats.org/officeDocument/2006/relationships/image" Target="../media/image42.png"/><Relationship Id="rId4" Type="http://schemas.openxmlformats.org/officeDocument/2006/relationships/image" Target="../media/image15.png"/><Relationship Id="rId9" Type="http://schemas.openxmlformats.org/officeDocument/2006/relationships/image" Target="../media/image41.png"/><Relationship Id="rId1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38.png"/><Relationship Id="rId4" Type="http://schemas.openxmlformats.org/officeDocument/2006/relationships/image" Target="../media/image15.png"/><Relationship Id="rId9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3.png"/><Relationship Id="rId7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38.png"/><Relationship Id="rId10" Type="http://schemas.openxmlformats.org/officeDocument/2006/relationships/image" Target="../media/image58.png"/><Relationship Id="rId4" Type="http://schemas.openxmlformats.org/officeDocument/2006/relationships/image" Target="../media/image15.png"/><Relationship Id="rId9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3.png"/><Relationship Id="rId7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63.png"/><Relationship Id="rId5" Type="http://schemas.openxmlformats.org/officeDocument/2006/relationships/image" Target="../media/image38.png"/><Relationship Id="rId10" Type="http://schemas.openxmlformats.org/officeDocument/2006/relationships/image" Target="../media/image62.png"/><Relationship Id="rId4" Type="http://schemas.openxmlformats.org/officeDocument/2006/relationships/image" Target="../media/image15.png"/><Relationship Id="rId9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3.png"/><Relationship Id="rId7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64.png"/><Relationship Id="rId4" Type="http://schemas.openxmlformats.org/officeDocument/2006/relationships/image" Target="../media/image15.png"/><Relationship Id="rId9" Type="http://schemas.openxmlformats.org/officeDocument/2006/relationships/image" Target="../media/image6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3.png"/><Relationship Id="rId7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67.png"/><Relationship Id="rId5" Type="http://schemas.openxmlformats.org/officeDocument/2006/relationships/image" Target="../media/image48.png"/><Relationship Id="rId10" Type="http://schemas.openxmlformats.org/officeDocument/2006/relationships/image" Target="../media/image75.png"/><Relationship Id="rId4" Type="http://schemas.openxmlformats.org/officeDocument/2006/relationships/image" Target="../media/image15.png"/><Relationship Id="rId9" Type="http://schemas.openxmlformats.org/officeDocument/2006/relationships/image" Target="../media/image7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7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80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83.png"/><Relationship Id="rId5" Type="http://schemas.openxmlformats.org/officeDocument/2006/relationships/image" Target="../media/image80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8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8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8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7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80.png"/><Relationship Id="rId4" Type="http://schemas.openxmlformats.org/officeDocument/2006/relationships/image" Target="../media/image15.png"/><Relationship Id="rId9" Type="http://schemas.openxmlformats.org/officeDocument/2006/relationships/image" Target="../media/image8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79.png"/><Relationship Id="rId7" Type="http://schemas.openxmlformats.org/officeDocument/2006/relationships/image" Target="../media/image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80.png"/><Relationship Id="rId4" Type="http://schemas.openxmlformats.org/officeDocument/2006/relationships/image" Target="../media/image15.png"/><Relationship Id="rId9" Type="http://schemas.openxmlformats.org/officeDocument/2006/relationships/image" Target="../media/image8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7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92.png"/><Relationship Id="rId5" Type="http://schemas.openxmlformats.org/officeDocument/2006/relationships/image" Target="../media/image80.png"/><Relationship Id="rId10" Type="http://schemas.openxmlformats.org/officeDocument/2006/relationships/image" Target="../media/image91.png"/><Relationship Id="rId4" Type="http://schemas.openxmlformats.org/officeDocument/2006/relationships/image" Target="../media/image15.png"/><Relationship Id="rId9" Type="http://schemas.openxmlformats.org/officeDocument/2006/relationships/image" Target="../media/image9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9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97.png"/><Relationship Id="rId4" Type="http://schemas.openxmlformats.org/officeDocument/2006/relationships/image" Target="../media/image15.png"/><Relationship Id="rId9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7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7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10033000"/>
            <a:ext cx="24765000" cy="4025900"/>
          </a:xfrm>
          <a:prstGeom prst="rect">
            <a:avLst/>
          </a:prstGeom>
          <a:effectLst>
            <a:outerShdw dist="309685" dir="5400000">
              <a:srgbClr val="D8D8D8">
                <a:alpha val="10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05800" y="4521200"/>
            <a:ext cx="469900" cy="393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0800" y="4521200"/>
            <a:ext cx="469900" cy="393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1300" y="10553700"/>
            <a:ext cx="21361400" cy="1765300"/>
          </a:xfrm>
          <a:prstGeom prst="rect">
            <a:avLst/>
          </a:prstGeom>
          <a:effectLst>
            <a:outerShdw dist="162951" dir="5400000">
              <a:srgbClr val="D8D8D8">
                <a:alpha val="10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1300" y="1663700"/>
            <a:ext cx="3073400" cy="850900"/>
          </a:xfrm>
          <a:prstGeom prst="rect">
            <a:avLst/>
          </a:prstGeom>
          <a:effectLst>
            <a:outerShdw dist="98181" dir="5400000">
              <a:srgbClr val="D8D8D8">
                <a:alpha val="100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1816100" y="1676400"/>
            <a:ext cx="2451100" cy="8255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en-US" sz="2666" b="0" i="0" u="none" strike="noStrike" cap="all" spc="-100">
                <a:solidFill>
                  <a:srgbClr val="595959"/>
                </a:solidFill>
                <a:latin typeface="Anek Bangla Expanded Bold"/>
                <a:ea typeface="Anek Bangla Expanded Bold"/>
                <a:cs typeface="Anek Bangla Expanded Bold"/>
              </a:rPr>
              <a:t>2026.08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56100" y="6972300"/>
            <a:ext cx="15671800" cy="1117600"/>
          </a:xfrm>
          <a:prstGeom prst="rect">
            <a:avLst/>
          </a:prstGeom>
        </p:spPr>
        <p:txBody>
          <a:bodyPr lIns="0" tIns="77893" rIns="0" bIns="77893" rtlCol="0" anchor="ctr"/>
          <a:lstStyle/>
          <a:p>
            <a:pPr lvl="0" algn="ctr">
              <a:lnSpc>
                <a:spcPct val="99600"/>
              </a:lnSpc>
            </a:pPr>
            <a:r>
              <a:rPr lang="en-US" sz="6133" b="0" i="0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단순 오답 노트가 즐거운 CS 탐구일지가 되기까지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46300" y="10871200"/>
            <a:ext cx="20091400" cy="111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Presenter: </a:t>
            </a:r>
            <a:r>
              <a:rPr lang="en-US" sz="29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루키마리너2기 장양환       |  </a:t>
            </a:r>
            <a:r>
              <a:rPr lang="en-US" sz="2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      Discord:  ya_ghwan        |        Github:https://github.com/surilog/MinNPU/tree/main/study/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5500" y="4889500"/>
            <a:ext cx="22720300" cy="1524000"/>
          </a:xfrm>
          <a:prstGeom prst="rect">
            <a:avLst/>
          </a:prstGeom>
        </p:spPr>
        <p:txBody>
          <a:bodyPr lIns="0" tIns="106680" rIns="0" bIns="106680" rtlCol="0" anchor="ctr"/>
          <a:lstStyle/>
          <a:p>
            <a:pPr lvl="0" algn="ctr">
              <a:lnSpc>
                <a:spcPct val="99600"/>
              </a:lnSpc>
            </a:pPr>
            <a:r>
              <a:rPr lang="en-US" sz="8399" b="1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어? 왜 내 결과만 소수점 17자리까지 똑같지?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200" y="2933700"/>
            <a:ext cx="14770100" cy="1511300"/>
          </a:xfrm>
          <a:prstGeom prst="rect">
            <a:avLst/>
          </a:prstGeom>
          <a:effectLst>
            <a:outerShdw dist="174381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200" y="4864100"/>
            <a:ext cx="14770100" cy="1511300"/>
          </a:xfrm>
          <a:prstGeom prst="rect">
            <a:avLst/>
          </a:prstGeom>
          <a:effectLst>
            <a:outerShdw dist="174381" dir="5400000">
              <a:srgbClr val="E6E6E6">
                <a:alpha val="10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200" y="6781800"/>
            <a:ext cx="14770100" cy="1511300"/>
          </a:xfrm>
          <a:prstGeom prst="rect">
            <a:avLst/>
          </a:prstGeom>
          <a:effectLst>
            <a:outerShdw dist="174381" dir="5400000">
              <a:srgbClr val="E6E6E6">
                <a:alpha val="10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200" y="8712200"/>
            <a:ext cx="14770100" cy="1511300"/>
          </a:xfrm>
          <a:prstGeom prst="rect">
            <a:avLst/>
          </a:prstGeom>
          <a:effectLst>
            <a:outerShdw dist="174381" dir="5400000">
              <a:srgbClr val="E6E6E6">
                <a:alpha val="10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0" y="10629900"/>
            <a:ext cx="14770100" cy="1511300"/>
          </a:xfrm>
          <a:prstGeom prst="rect">
            <a:avLst/>
          </a:prstGeom>
          <a:effectLst>
            <a:outerShdw dist="174381" dir="5400000">
              <a:srgbClr val="E6E6E6">
                <a:alpha val="100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9918700" y="11036300"/>
            <a:ext cx="11531600" cy="698500"/>
          </a:xfrm>
          <a:prstGeom prst="rect">
            <a:avLst/>
          </a:prstGeom>
        </p:spPr>
        <p:txBody>
          <a:bodyPr lIns="0" tIns="47413" rIns="0" bIns="47413" rtlCol="0" anchor="ctr"/>
          <a:lstStyle/>
          <a:p>
            <a:pPr lvl="0" algn="l">
              <a:lnSpc>
                <a:spcPct val="99600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NPU 오버헤드와 Python 순회 최적화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0" y="10375900"/>
            <a:ext cx="1816100" cy="20193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1200" y="2578100"/>
            <a:ext cx="4381500" cy="1930400"/>
          </a:xfrm>
          <a:prstGeom prst="rect">
            <a:avLst/>
          </a:prstGeom>
        </p:spPr>
        <p:txBody>
          <a:bodyPr lIns="0" tIns="135467" rIns="0" bIns="135467" rtlCol="0" anchor="ctr"/>
          <a:lstStyle/>
          <a:p>
            <a:pPr lvl="0" algn="l">
              <a:lnSpc>
                <a:spcPct val="99600"/>
              </a:lnSpc>
            </a:pPr>
            <a:r>
              <a:rPr lang="en-US" sz="10666" b="0" i="0" u="none" strike="noStrike" spc="100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목차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31400" y="3340100"/>
            <a:ext cx="11531600" cy="698500"/>
          </a:xfrm>
          <a:prstGeom prst="rect">
            <a:avLst/>
          </a:prstGeom>
        </p:spPr>
        <p:txBody>
          <a:bodyPr lIns="0" tIns="47413" rIns="0" bIns="47413" rtlCol="0" anchor="ctr"/>
          <a:lstStyle/>
          <a:p>
            <a:pPr lvl="0" algn="l">
              <a:lnSpc>
                <a:spcPct val="99600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CS 한 스푼    : "왜 0.1은 정확하지 않을까?"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6500" y="2679700"/>
            <a:ext cx="1816100" cy="20193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9931400" y="5270500"/>
            <a:ext cx="11531600" cy="698500"/>
          </a:xfrm>
          <a:prstGeom prst="rect">
            <a:avLst/>
          </a:prstGeom>
        </p:spPr>
        <p:txBody>
          <a:bodyPr lIns="0" tIns="47413" rIns="0" bIns="47413" rtlCol="0" anchor="ctr"/>
          <a:lstStyle/>
          <a:p>
            <a:pPr lvl="0" algn="l">
              <a:lnSpc>
                <a:spcPct val="99600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사건 발생 : "왜 내 결과만 토씨 하나 안 틀리고 똑같을까?"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6500" y="4610100"/>
            <a:ext cx="1816100" cy="20193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9931400" y="7188200"/>
            <a:ext cx="11531600" cy="698500"/>
          </a:xfrm>
          <a:prstGeom prst="rect">
            <a:avLst/>
          </a:prstGeom>
        </p:spPr>
        <p:txBody>
          <a:bodyPr lIns="0" tIns="47413" rIns="0" bIns="47413" rtlCol="0" anchor="ctr"/>
          <a:lstStyle/>
          <a:p>
            <a:pPr lvl="0" algn="l">
              <a:lnSpc>
                <a:spcPct val="99600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연산 순서를 바꾸니 결과가 달라졌다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6500" y="6527800"/>
            <a:ext cx="1816100" cy="20193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931400" y="8826500"/>
            <a:ext cx="11531600" cy="1270000"/>
          </a:xfrm>
          <a:prstGeom prst="rect">
            <a:avLst/>
          </a:prstGeom>
        </p:spPr>
        <p:txBody>
          <a:bodyPr lIns="0" tIns="47413" rIns="0" bIns="47413" rtlCol="0" anchor="ctr"/>
          <a:lstStyle/>
          <a:p>
            <a:pPr lvl="0" algn="l">
              <a:lnSpc>
                <a:spcPct val="99600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sum()이 틀린 게 아니었다 : C-Level 누적 vs Python In-place 누적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6500" y="8458200"/>
            <a:ext cx="1816100" cy="2019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39600" y="3213100"/>
            <a:ext cx="4064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800" y="1803400"/>
            <a:ext cx="1790700" cy="2514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848100" y="2451100"/>
            <a:ext cx="132715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뭐가 문제인데...?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35600" y="4876800"/>
            <a:ext cx="3048000" cy="10033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cap="all">
                <a:solidFill>
                  <a:srgbClr val="FFFFFF"/>
                </a:solidFill>
                <a:latin typeface="Anek Bangla Expanded SemiBold"/>
                <a:ea typeface="Anek Bangla Expanded SemiBold"/>
                <a:cs typeface="Anek Bangla Expanded SemiBold"/>
              </a:rPr>
              <a:t>step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73400" y="6896100"/>
            <a:ext cx="17195800" cy="2298700"/>
          </a:xfrm>
          <a:prstGeom prst="rect">
            <a:avLst/>
          </a:prstGeom>
        </p:spPr>
        <p:txBody>
          <a:bodyPr lIns="0" tIns="22014" rIns="0" bIns="22014" rtlCol="0" anchor="ctr"/>
          <a:lstStyle/>
          <a:p>
            <a:pPr lvl="0" algn="ctr">
              <a:lnSpc>
                <a:spcPct val="107899"/>
              </a:lnSpc>
            </a:pPr>
            <a:r>
              <a:rPr lang="en-US" sz="6598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왜 이러한 결과가 나왔는지 
왜 이러한 결과가 나오면 안되는지 이해하셨나요..?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8600" y="4432300"/>
            <a:ext cx="13944600" cy="1701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8897600" y="5969000"/>
            <a:ext cx="5041900" cy="2400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7703800" y="5969000"/>
            <a:ext cx="5041900" cy="2400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1300" y="10325100"/>
            <a:ext cx="21361400" cy="2095500"/>
          </a:xfrm>
          <a:prstGeom prst="rect">
            <a:avLst/>
          </a:prstGeom>
          <a:effectLst>
            <a:outerShdw dist="193431" dir="5400000">
              <a:srgbClr val="D8D8D8">
                <a:alpha val="10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00" y="3340100"/>
            <a:ext cx="7886700" cy="6832600"/>
          </a:xfrm>
          <a:prstGeom prst="rect">
            <a:avLst/>
          </a:prstGeom>
          <a:effectLst>
            <a:outerShdw dist="108373" dir="5400000">
              <a:srgbClr val="D8D8D8">
                <a:alpha val="100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1752600" y="7988300"/>
            <a:ext cx="15722600" cy="1930400"/>
          </a:xfrm>
          <a:prstGeom prst="rect">
            <a:avLst/>
          </a:prstGeom>
        </p:spPr>
        <p:txBody>
          <a:bodyPr lIns="0" tIns="135467" rIns="0" bIns="135467" rtlCol="0" anchor="ctr"/>
          <a:lstStyle/>
          <a:p>
            <a:pPr lvl="0" algn="l">
              <a:lnSpc>
                <a:spcPct val="99600"/>
              </a:lnSpc>
            </a:pPr>
            <a:r>
              <a:rPr lang="en-US" sz="10666" b="0" i="0" u="none" strike="noStrike" spc="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왜 0.1은 정확하지 않을까?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84400" y="10528300"/>
            <a:ext cx="134620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고정소수점 vs 부동소수점 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IEEE 754 64비트(FP64) 비트 구조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0.1^10 저장 과정 및 비트 절삭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1803400"/>
            <a:ext cx="14986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9800" y="4902200"/>
            <a:ext cx="4406900" cy="6934200"/>
          </a:xfrm>
          <a:prstGeom prst="rect">
            <a:avLst/>
          </a:prstGeom>
          <a:effectLst>
            <a:outerShdw dist="169496" dir="5400000">
              <a:srgbClr val="E6E6E6">
                <a:alpha val="10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3100" y="6210300"/>
            <a:ext cx="2400300" cy="2400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3800" y="6731000"/>
            <a:ext cx="1358900" cy="1358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07700" y="7353300"/>
            <a:ext cx="1397000" cy="1435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12900" y="4902200"/>
            <a:ext cx="4406900" cy="6934200"/>
          </a:xfrm>
          <a:prstGeom prst="rect">
            <a:avLst/>
          </a:prstGeom>
          <a:effectLst>
            <a:outerShdw dist="169496" dir="5400000">
              <a:srgbClr val="E6E6E6">
                <a:alpha val="10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316200" y="6210300"/>
            <a:ext cx="2400300" cy="2400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849600" y="6731000"/>
            <a:ext cx="1358900" cy="13589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848100" y="2451100"/>
            <a:ext cx="132715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고정소수점 VS 부동소수점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10200" y="8902700"/>
            <a:ext cx="3263900" cy="647700"/>
          </a:xfrm>
          <a:prstGeom prst="rect">
            <a:avLst/>
          </a:prstGeom>
        </p:spPr>
        <p:txBody>
          <a:bodyPr lIns="0" tIns="22014" rIns="0" bIns="22014" rtlCol="0" anchor="ctr"/>
          <a:lstStyle/>
          <a:p>
            <a:pPr lvl="0" algn="ctr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고정 소수점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35600" y="4876800"/>
            <a:ext cx="3048000" cy="10033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cap="all">
                <a:solidFill>
                  <a:srgbClr val="FFFFFF"/>
                </a:solidFill>
                <a:latin typeface="Anek Bangla Expanded SemiBold"/>
                <a:ea typeface="Anek Bangla Expanded SemiBold"/>
                <a:cs typeface="Anek Bangla Expanded SemiBold"/>
              </a:rPr>
              <a:t>step 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973300" y="8902700"/>
            <a:ext cx="3073400" cy="647700"/>
          </a:xfrm>
          <a:prstGeom prst="rect">
            <a:avLst/>
          </a:prstGeom>
        </p:spPr>
        <p:txBody>
          <a:bodyPr lIns="0" tIns="22014" rIns="0" bIns="22014" rtlCol="0" anchor="ctr"/>
          <a:lstStyle/>
          <a:p>
            <a:pPr lvl="0" algn="ctr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부동 소수점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86000" y="4876800"/>
            <a:ext cx="3048000" cy="10033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cap="all">
                <a:solidFill>
                  <a:srgbClr val="FFFFFF"/>
                </a:solidFill>
                <a:latin typeface="Anek Bangla Expanded SemiBold"/>
                <a:ea typeface="Anek Bangla Expanded SemiBold"/>
                <a:cs typeface="Anek Bangla Expanded SemiBold"/>
              </a:rPr>
              <a:t>step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49400" y="4724400"/>
            <a:ext cx="8623300" cy="2768600"/>
          </a:xfrm>
          <a:prstGeom prst="rect">
            <a:avLst/>
          </a:prstGeom>
          <a:effectLst>
            <a:outerShdw dist="170375" dir="5400000">
              <a:srgbClr val="E6E6E6">
                <a:alpha val="10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22500" y="5092700"/>
            <a:ext cx="381000" cy="330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31300" y="5156200"/>
            <a:ext cx="381000" cy="330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860800" y="2451100"/>
            <a:ext cx="99822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1. 고정소수점 vs 부동소수점 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4500" y="1803400"/>
            <a:ext cx="1498600" cy="2514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32000" y="4940300"/>
            <a:ext cx="7581900" cy="1930400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lvl="0" algn="ctr">
              <a:lnSpc>
                <a:spcPct val="1078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특징
- 소수점 위치 고정 =&gt; 연산은 빠름 
- 표현 가능한 수의 범위가 좁음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4470400"/>
            <a:ext cx="4470400" cy="3175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1100" y="7874000"/>
            <a:ext cx="6832600" cy="3035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1300" y="8902700"/>
            <a:ext cx="8623300" cy="2768600"/>
          </a:xfrm>
          <a:prstGeom prst="rect">
            <a:avLst/>
          </a:prstGeom>
          <a:effectLst>
            <a:outerShdw dist="170375" dir="5400000">
              <a:srgbClr val="E6E6E6">
                <a:alpha val="100000"/>
              </a:srgbClr>
            </a:outerShdw>
          </a:effectLst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84400" y="9271000"/>
            <a:ext cx="381000" cy="3302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4706600" y="9118600"/>
            <a:ext cx="7581900" cy="1930400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lvl="0" algn="ctr">
              <a:lnSpc>
                <a:spcPct val="1078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특징
- 움직이는 소수점 =&gt; 넓은 범위 표현 
-비트는 한정 =&gt; 근사값 저장 오차 발생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98800" y="10655300"/>
            <a:ext cx="55245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1803400"/>
            <a:ext cx="18923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2300" y="4902200"/>
            <a:ext cx="4406900" cy="6934200"/>
          </a:xfrm>
          <a:prstGeom prst="rect">
            <a:avLst/>
          </a:prstGeom>
          <a:effectLst>
            <a:outerShdw dist="169496" dir="5400000">
              <a:srgbClr val="E6E6E6">
                <a:alpha val="10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5600" y="6210300"/>
            <a:ext cx="2400300" cy="2400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6731000"/>
            <a:ext cx="1371600" cy="1358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5900" y="8013700"/>
            <a:ext cx="7112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44700" y="8013700"/>
            <a:ext cx="7112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83800" y="4902200"/>
            <a:ext cx="4406900" cy="6934200"/>
          </a:xfrm>
          <a:prstGeom prst="rect">
            <a:avLst/>
          </a:prstGeom>
          <a:effectLst>
            <a:outerShdw dist="169496" dir="5400000">
              <a:srgbClr val="E6E6E6">
                <a:alpha val="100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87100" y="6210300"/>
            <a:ext cx="2400300" cy="2400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2600" y="4902200"/>
            <a:ext cx="4406900" cy="6934200"/>
          </a:xfrm>
          <a:prstGeom prst="rect">
            <a:avLst/>
          </a:prstGeom>
          <a:effectLst>
            <a:outerShdw dist="169496" dir="5400000">
              <a:srgbClr val="E6E6E6">
                <a:alpha val="100000"/>
              </a:srgbClr>
            </a:outerShdw>
          </a:effectLst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725900" y="6210300"/>
            <a:ext cx="2400300" cy="2400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246600" y="6705600"/>
            <a:ext cx="1358900" cy="1358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20500" y="6731000"/>
            <a:ext cx="1358900" cy="13589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6408400" y="9652000"/>
            <a:ext cx="3073400" cy="647700"/>
          </a:xfrm>
          <a:prstGeom prst="rect">
            <a:avLst/>
          </a:prstGeom>
        </p:spPr>
        <p:txBody>
          <a:bodyPr lIns="0" tIns="22014" rIns="0" bIns="22014" rtlCol="0" anchor="ctr"/>
          <a:lstStyle/>
          <a:p>
            <a:pPr lvl="0" algn="ctr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ULP의 정의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408400" y="4876800"/>
            <a:ext cx="3048000" cy="10033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cap="all">
                <a:solidFill>
                  <a:srgbClr val="FFFFFF"/>
                </a:solidFill>
                <a:latin typeface="Anek Bangla Expanded SemiBold"/>
                <a:ea typeface="Anek Bangla Expanded SemiBold"/>
                <a:cs typeface="Anek Bangla Expanded SemiBold"/>
              </a:rPr>
              <a:t>step 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84600" y="2425700"/>
            <a:ext cx="139700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 2. IEEE 754 64비트(FP64) 비트 구조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92700" y="9385300"/>
            <a:ext cx="3060700" cy="1219200"/>
          </a:xfrm>
          <a:prstGeom prst="rect">
            <a:avLst/>
          </a:prstGeom>
        </p:spPr>
        <p:txBody>
          <a:bodyPr lIns="0" tIns="22014" rIns="0" bIns="22014" rtlCol="0" anchor="ctr"/>
          <a:lstStyle/>
          <a:p>
            <a:pPr lvl="0" algn="ctr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 IEEE 754 64비트 구조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05400" y="4876800"/>
            <a:ext cx="3048000" cy="10033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cap="all">
                <a:solidFill>
                  <a:srgbClr val="FFFFFF"/>
                </a:solidFill>
                <a:latin typeface="Anek Bangla Expanded SemiBold"/>
                <a:ea typeface="Anek Bangla Expanded SemiBold"/>
                <a:cs typeface="Anek Bangla Expanded SemiBold"/>
              </a:rPr>
              <a:t>step 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37800" y="9410700"/>
            <a:ext cx="4216400" cy="1219200"/>
          </a:xfrm>
          <a:prstGeom prst="rect">
            <a:avLst/>
          </a:prstGeom>
        </p:spPr>
        <p:txBody>
          <a:bodyPr lIns="0" tIns="22014" rIns="0" bIns="22014" rtlCol="0" anchor="ctr"/>
          <a:lstStyle/>
          <a:p>
            <a:pPr lvl="0" algn="ctr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52비트로 53비트의 
정밀도를 얻는 원리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56900" y="4876800"/>
            <a:ext cx="3048000" cy="10033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cap="all">
                <a:solidFill>
                  <a:srgbClr val="FFFFFF"/>
                </a:solidFill>
                <a:latin typeface="Anek Bangla Expanded SemiBold"/>
                <a:ea typeface="Anek Bangla Expanded SemiBold"/>
                <a:cs typeface="Anek Bangla Expanded SemiBold"/>
              </a:rPr>
              <a:t>step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8600" y="4673600"/>
            <a:ext cx="8674100" cy="7404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66900" y="5054600"/>
            <a:ext cx="279400" cy="279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37700" y="5054600"/>
            <a:ext cx="279400" cy="279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17700" y="7277100"/>
            <a:ext cx="7835900" cy="76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17700" y="9347200"/>
            <a:ext cx="7835900" cy="76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17700" y="11341100"/>
            <a:ext cx="7835900" cy="76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20900" y="6311900"/>
            <a:ext cx="457200" cy="406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20900" y="8382000"/>
            <a:ext cx="457200" cy="406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20900" y="10375900"/>
            <a:ext cx="457200" cy="406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3860800" y="2451100"/>
            <a:ext cx="130683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2. IEEE 754 64비트(FP64) 비트 구조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0" y="1803400"/>
            <a:ext cx="1892300" cy="25146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44700" y="4851400"/>
            <a:ext cx="7581900" cy="698500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lvl="0" algn="ctr">
              <a:lnSpc>
                <a:spcPct val="107899"/>
              </a:lnSpc>
            </a:pPr>
            <a:r>
              <a:rPr lang="en-US" sz="37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64비트 구조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671800" y="6007100"/>
            <a:ext cx="6477000" cy="1003300"/>
          </a:xfrm>
          <a:prstGeom prst="rect">
            <a:avLst/>
          </a:prstGeom>
        </p:spPr>
        <p:txBody>
          <a:bodyPr lIns="0" tIns="37254" rIns="0" bIns="37254" rtlCol="0" anchor="ctr"/>
          <a:lstStyle/>
          <a:p>
            <a:pPr lvl="0" algn="l">
              <a:lnSpc>
                <a:spcPct val="99600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(부호부 - 1 bit): Bit 63
0 = 양수 (+), 1 = 음수 (-)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71800" y="7861300"/>
            <a:ext cx="6477000" cy="1447800"/>
          </a:xfrm>
          <a:prstGeom prst="rect">
            <a:avLst/>
          </a:prstGeom>
        </p:spPr>
        <p:txBody>
          <a:bodyPr lIns="0" tIns="37254" rIns="0" bIns="37254" rtlCol="0" anchor="ctr"/>
          <a:lstStyle/>
          <a:p>
            <a:pPr lvl="0" algn="l">
              <a:lnSpc>
                <a:spcPct val="99600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(지수부 - 11 bits): Bits 62~52
스케일 / 동적 범위담당
(2^-1022~2^1023)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671800" y="9855200"/>
            <a:ext cx="6477000" cy="1447800"/>
          </a:xfrm>
          <a:prstGeom prst="rect">
            <a:avLst/>
          </a:prstGeom>
        </p:spPr>
        <p:txBody>
          <a:bodyPr lIns="0" tIns="37254" rIns="0" bIns="37254" rtlCol="0" anchor="ctr"/>
          <a:lstStyle/>
          <a:p>
            <a:pPr lvl="0" algn="l">
              <a:lnSpc>
                <a:spcPct val="99600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(가수부 - 52 bits): Bits 51~0
 유효숫자(정밀도) 데이터 저장 공간
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6200" y="5029200"/>
            <a:ext cx="12090400" cy="6057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5" name="TextBox 5"/>
          <p:cNvSpPr txBox="1"/>
          <p:nvPr/>
        </p:nvSpPr>
        <p:spPr>
          <a:xfrm>
            <a:off x="3848100" y="2451100"/>
            <a:ext cx="56769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2.정규화와 ULP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1803400"/>
            <a:ext cx="1892300" cy="2514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1300" y="4711700"/>
            <a:ext cx="12179300" cy="149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1300" y="6997700"/>
            <a:ext cx="12179300" cy="284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49400" y="4724400"/>
            <a:ext cx="9004300" cy="1358900"/>
          </a:xfrm>
          <a:prstGeom prst="rect">
            <a:avLst/>
          </a:prstGeom>
          <a:effectLst>
            <a:outerShdw dist="83625" dir="5400000">
              <a:srgbClr val="E6E6E6">
                <a:alpha val="100000"/>
              </a:srgbClr>
            </a:outerShdw>
          </a:effectLst>
        </p:spPr>
      </p:pic>
      <p:sp>
        <p:nvSpPr>
          <p:cNvPr id="11" name="TextBox 11"/>
          <p:cNvSpPr txBox="1"/>
          <p:nvPr/>
        </p:nvSpPr>
        <p:spPr>
          <a:xfrm>
            <a:off x="14630400" y="5016500"/>
            <a:ext cx="8305800" cy="546100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lvl="0" algn="ctr">
              <a:lnSpc>
                <a:spcPct val="107899"/>
              </a:lnSpc>
            </a:pPr>
            <a:r>
              <a:rPr lang="en-US" sz="2884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12.375를 32비트 단정밀도 구성으로 표현한 그림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74800" y="7683500"/>
            <a:ext cx="9004300" cy="1473200"/>
          </a:xfrm>
          <a:prstGeom prst="rect">
            <a:avLst/>
          </a:prstGeom>
          <a:effectLst>
            <a:outerShdw dist="90658" dir="5400000">
              <a:srgbClr val="E6E6E6">
                <a:alpha val="100000"/>
              </a:srgbClr>
            </a:outerShdw>
          </a:effectLst>
        </p:spPr>
      </p:pic>
      <p:sp>
        <p:nvSpPr>
          <p:cNvPr id="13" name="TextBox 13"/>
          <p:cNvSpPr txBox="1"/>
          <p:nvPr/>
        </p:nvSpPr>
        <p:spPr>
          <a:xfrm>
            <a:off x="14655800" y="7734300"/>
            <a:ext cx="8305800" cy="1016000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lvl="0" algn="ctr">
              <a:lnSpc>
                <a:spcPct val="107899"/>
              </a:lnSpc>
            </a:pPr>
            <a:r>
              <a:rPr lang="en-US" sz="2884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-12.375의 2진수의 정규화된 1.100011(2) x 2의 3승을 부동 소수점으로 표현한 값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1300" y="10350500"/>
            <a:ext cx="21742400" cy="1358900"/>
          </a:xfrm>
          <a:prstGeom prst="rect">
            <a:avLst/>
          </a:prstGeom>
          <a:effectLst>
            <a:outerShdw dist="83625" dir="5400000">
              <a:srgbClr val="E6E6E6">
                <a:alpha val="100000"/>
              </a:srgbClr>
            </a:outerShdw>
          </a:effectLst>
        </p:spPr>
      </p:pic>
      <p:sp>
        <p:nvSpPr>
          <p:cNvPr id="15" name="TextBox 15"/>
          <p:cNvSpPr txBox="1"/>
          <p:nvPr/>
        </p:nvSpPr>
        <p:spPr>
          <a:xfrm>
            <a:off x="2400300" y="10401300"/>
            <a:ext cx="20535900" cy="1016000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lvl="0" algn="ctr">
              <a:lnSpc>
                <a:spcPct val="107899"/>
              </a:lnSpc>
            </a:pPr>
            <a:r>
              <a:rPr lang="en-US" sz="2884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정규화된 2진수는 항상 1.xxx..._2 형태이므로, 맨 앞의 '1'을 생략하고 저장.
즉, 실제 52비트 메모리 공간으로 53비트 정밀도 확보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1803400"/>
            <a:ext cx="18923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7400" y="4902200"/>
            <a:ext cx="4406900" cy="6934200"/>
          </a:xfrm>
          <a:prstGeom prst="rect">
            <a:avLst/>
          </a:prstGeom>
          <a:effectLst>
            <a:outerShdw dist="169496" dir="5400000">
              <a:srgbClr val="E6E6E6">
                <a:alpha val="10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0700" y="6210300"/>
            <a:ext cx="2400300" cy="2400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1400" y="6731000"/>
            <a:ext cx="1358900" cy="1358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0500" y="7264400"/>
            <a:ext cx="1930400" cy="198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22600" y="4902200"/>
            <a:ext cx="4406900" cy="6934200"/>
          </a:xfrm>
          <a:prstGeom prst="rect">
            <a:avLst/>
          </a:prstGeom>
          <a:effectLst>
            <a:outerShdw dist="169496" dir="5400000">
              <a:srgbClr val="E6E6E6">
                <a:alpha val="10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25900" y="6210300"/>
            <a:ext cx="2400300" cy="2400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246600" y="6705600"/>
            <a:ext cx="1358900" cy="13589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6408400" y="4876800"/>
            <a:ext cx="3048000" cy="9906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cap="all">
                <a:solidFill>
                  <a:srgbClr val="FFFFFF"/>
                </a:solidFill>
                <a:latin typeface="Anek Bangla Expanded SemiBold"/>
                <a:ea typeface="Anek Bangla Expanded SemiBold"/>
                <a:cs typeface="Anek Bangla Expanded SemiBold"/>
              </a:rPr>
              <a:t>step 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48100" y="2451100"/>
            <a:ext cx="132715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3.  10진수 0.1 저장 과정 및 비트 절삭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98900" y="9207500"/>
            <a:ext cx="3251200" cy="1041400"/>
          </a:xfrm>
          <a:prstGeom prst="rect">
            <a:avLst/>
          </a:prstGeom>
        </p:spPr>
        <p:txBody>
          <a:bodyPr lIns="0" tIns="18627" rIns="0" bIns="18627" rtlCol="0" anchor="ctr"/>
          <a:lstStyle/>
          <a:p>
            <a:pPr lvl="0" algn="ctr">
              <a:lnSpc>
                <a:spcPct val="1078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10진수 0.1 이 메모리에 박히는 과정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00500" y="4876800"/>
            <a:ext cx="3048000" cy="9906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en-US" sz="3199" b="0" i="0" u="none" strike="noStrike" cap="all">
                <a:solidFill>
                  <a:srgbClr val="FFFFFF"/>
                </a:solidFill>
                <a:latin typeface="Anek Bangla Expanded SemiBold"/>
                <a:ea typeface="Anek Bangla Expanded SemiBold"/>
                <a:cs typeface="Anek Bangla Expanded SemiBold"/>
              </a:rPr>
              <a:t>step 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862300" y="9207500"/>
            <a:ext cx="4318000" cy="9525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ctr">
              <a:lnSpc>
                <a:spcPct val="1078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최종결과:
컴퓨터가 실제로 기억하는 0.1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4927600"/>
            <a:ext cx="7467600" cy="825500"/>
          </a:xfrm>
          <a:prstGeom prst="rect">
            <a:avLst/>
          </a:prstGeom>
          <a:effectLst>
            <a:outerShdw dist="127000" dir="5400000">
              <a:srgbClr val="D8D8D8">
                <a:alpha val="100000"/>
              </a:srgbClr>
            </a:outerShdw>
          </a:effectLst>
        </p:spPr>
      </p:pic>
      <p:sp>
        <p:nvSpPr>
          <p:cNvPr id="6" name="TextBox 6"/>
          <p:cNvSpPr txBox="1"/>
          <p:nvPr/>
        </p:nvSpPr>
        <p:spPr>
          <a:xfrm>
            <a:off x="3848100" y="2451100"/>
            <a:ext cx="132715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3. 십진수 0.1 저장 과정 및 비트 절삭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500" y="1803400"/>
            <a:ext cx="1498600" cy="25146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81400" y="4927600"/>
            <a:ext cx="3289300" cy="8255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십진수 : 0.1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6400" y="4927600"/>
            <a:ext cx="8255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347200" y="6223000"/>
            <a:ext cx="3263900" cy="647700"/>
          </a:xfrm>
          <a:prstGeom prst="rect">
            <a:avLst/>
          </a:prstGeom>
        </p:spPr>
        <p:txBody>
          <a:bodyPr lIns="0" tIns="22014" rIns="0" bIns="22014" rtlCol="0" anchor="ctr"/>
          <a:lstStyle/>
          <a:p>
            <a:pPr lvl="0" algn="ctr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2진수로 변환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09500" y="4953000"/>
            <a:ext cx="9283700" cy="825500"/>
          </a:xfrm>
          <a:prstGeom prst="rect">
            <a:avLst/>
          </a:prstGeom>
          <a:effectLst>
            <a:outerShdw dist="127000" dir="5400000">
              <a:srgbClr val="D8D8D8">
                <a:alpha val="100000"/>
              </a:srgbClr>
            </a:outerShdw>
          </a:effectLst>
        </p:spPr>
      </p:pic>
      <p:sp>
        <p:nvSpPr>
          <p:cNvPr id="13" name="TextBox 13"/>
          <p:cNvSpPr txBox="1"/>
          <p:nvPr/>
        </p:nvSpPr>
        <p:spPr>
          <a:xfrm>
            <a:off x="12979400" y="4953000"/>
            <a:ext cx="8051800" cy="8255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0.00011001100110011001100...무한소수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35100" y="7239000"/>
            <a:ext cx="4165600" cy="647700"/>
          </a:xfrm>
          <a:prstGeom prst="rect">
            <a:avLst/>
          </a:prstGeom>
        </p:spPr>
        <p:txBody>
          <a:bodyPr lIns="0" tIns="22014" rIns="0" bIns="22014" rtlCol="0" anchor="ctr"/>
          <a:lstStyle/>
          <a:p>
            <a:pPr lvl="0" algn="ctr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정규화 &amp; 23비트 절삭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7900" y="7061200"/>
            <a:ext cx="9613900" cy="825500"/>
          </a:xfrm>
          <a:prstGeom prst="rect">
            <a:avLst/>
          </a:prstGeom>
          <a:effectLst>
            <a:outerShdw dist="127000" dir="5400000">
              <a:srgbClr val="D8D8D8">
                <a:alpha val="100000"/>
              </a:srgbClr>
            </a:outerShdw>
          </a:effectLst>
        </p:spPr>
      </p:pic>
      <p:sp>
        <p:nvSpPr>
          <p:cNvPr id="16" name="TextBox 16"/>
          <p:cNvSpPr txBox="1"/>
          <p:nvPr/>
        </p:nvSpPr>
        <p:spPr>
          <a:xfrm>
            <a:off x="7848600" y="7073900"/>
            <a:ext cx="8318500" cy="8255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 1 . 10011001100110011001100│</a:t>
            </a:r>
            <a:r>
              <a:rPr lang="en-US" sz="2666" b="0" i="0" u="none" strike="noStrike" cap="all">
                <a:solidFill>
                  <a:srgbClr val="FC5230"/>
                </a:solidFill>
                <a:latin typeface="Anek Bangla Expanded Bold"/>
                <a:ea typeface="Anek Bangla Expanded Bold"/>
                <a:cs typeface="Anek Bangla Expanded Bold"/>
              </a:rPr>
              <a:t>1</a:t>
            </a:r>
            <a:r>
              <a:rPr lang="en-US" sz="2666" b="0" i="0" u="none" strike="noStrike" cap="all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10011....*2^-4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5400" y="9969500"/>
            <a:ext cx="4445000" cy="647700"/>
          </a:xfrm>
          <a:prstGeom prst="rect">
            <a:avLst/>
          </a:prstGeom>
        </p:spPr>
        <p:txBody>
          <a:bodyPr lIns="0" tIns="22014" rIns="0" bIns="22014" rtlCol="0" anchor="ctr"/>
          <a:lstStyle/>
          <a:p>
            <a:pPr lvl="0" algn="ctr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IEEE 754반올림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7900" y="9880600"/>
            <a:ext cx="9613900" cy="825500"/>
          </a:xfrm>
          <a:prstGeom prst="rect">
            <a:avLst/>
          </a:prstGeom>
          <a:effectLst>
            <a:outerShdw dist="127000" dir="5400000">
              <a:srgbClr val="D8D8D8">
                <a:alpha val="100000"/>
              </a:srgbClr>
            </a:outerShdw>
          </a:effectLst>
        </p:spPr>
      </p:pic>
      <p:sp>
        <p:nvSpPr>
          <p:cNvPr id="19" name="TextBox 19"/>
          <p:cNvSpPr txBox="1"/>
          <p:nvPr/>
        </p:nvSpPr>
        <p:spPr>
          <a:xfrm>
            <a:off x="7848600" y="9893300"/>
            <a:ext cx="8318500" cy="8255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 1 . 1001100110011001100</a:t>
            </a:r>
            <a:r>
              <a:rPr lang="en-US" sz="2666" b="0" i="0" u="none" strike="noStrike" cap="all">
                <a:solidFill>
                  <a:srgbClr val="FC5230"/>
                </a:solidFill>
                <a:latin typeface="Anek Bangla Expanded Bold"/>
                <a:ea typeface="Anek Bangla Expanded Bold"/>
                <a:cs typeface="Anek Bangla Expanded Bold"/>
              </a:rPr>
              <a:t>1101</a:t>
            </a:r>
            <a:r>
              <a:rPr lang="en-US" sz="2666" b="0" i="0" u="none" strike="noStrike" cap="all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*2^-4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7400" y="7061200"/>
            <a:ext cx="825500" cy="850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7400" y="9944100"/>
            <a:ext cx="825500" cy="850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7400" y="12039600"/>
            <a:ext cx="825500" cy="850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12026900"/>
            <a:ext cx="9613900" cy="825500"/>
          </a:xfrm>
          <a:prstGeom prst="rect">
            <a:avLst/>
          </a:prstGeom>
          <a:effectLst>
            <a:outerShdw dist="127000" dir="5400000">
              <a:srgbClr val="D8D8D8">
                <a:alpha val="100000"/>
              </a:srgbClr>
            </a:outerShdw>
          </a:effectLst>
        </p:spPr>
      </p:pic>
      <p:sp>
        <p:nvSpPr>
          <p:cNvPr id="24" name="TextBox 24"/>
          <p:cNvSpPr txBox="1"/>
          <p:nvPr/>
        </p:nvSpPr>
        <p:spPr>
          <a:xfrm>
            <a:off x="7835900" y="12039600"/>
            <a:ext cx="8318500" cy="8255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 0.100000001490116119384765625...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95400" y="12128500"/>
            <a:ext cx="4445000" cy="647700"/>
          </a:xfrm>
          <a:prstGeom prst="rect">
            <a:avLst/>
          </a:prstGeom>
        </p:spPr>
        <p:txBody>
          <a:bodyPr lIns="0" tIns="22014" rIns="0" bIns="22014" rtlCol="0" anchor="ctr"/>
          <a:lstStyle/>
          <a:p>
            <a:pPr lvl="0" algn="ctr">
              <a:lnSpc>
                <a:spcPct val="1078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실제 저장하는 10진수 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8897600" y="5969000"/>
            <a:ext cx="5041900" cy="2400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7703800" y="5969000"/>
            <a:ext cx="5041900" cy="2400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1300" y="10325100"/>
            <a:ext cx="21361400" cy="2095500"/>
          </a:xfrm>
          <a:prstGeom prst="rect">
            <a:avLst/>
          </a:prstGeom>
          <a:effectLst>
            <a:outerShdw dist="193431" dir="5400000">
              <a:srgbClr val="D8D8D8">
                <a:alpha val="10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00" y="2336800"/>
            <a:ext cx="7886700" cy="6832600"/>
          </a:xfrm>
          <a:prstGeom prst="rect">
            <a:avLst/>
          </a:prstGeom>
          <a:effectLst>
            <a:outerShdw dist="108373" dir="5400000">
              <a:srgbClr val="D8D8D8">
                <a:alpha val="100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1752600" y="6934200"/>
            <a:ext cx="17526000" cy="3556000"/>
          </a:xfrm>
          <a:prstGeom prst="rect">
            <a:avLst/>
          </a:prstGeom>
        </p:spPr>
        <p:txBody>
          <a:bodyPr lIns="0" tIns="135467" rIns="0" bIns="135467" rtlCol="0" anchor="ctr"/>
          <a:lstStyle/>
          <a:p>
            <a:pPr lvl="0" algn="l">
              <a:lnSpc>
                <a:spcPct val="99600"/>
              </a:lnSpc>
            </a:pPr>
            <a:r>
              <a:rPr lang="en-US" sz="10666" b="0" i="0" u="none" strike="noStrike" spc="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사건 발생 : "왜 내 결과만 토씨 하나 안 틀리고 똑같을까?"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84400" y="10807700"/>
            <a:ext cx="13462000" cy="111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문제의 본질 및 의문 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`float.hex()`로 뜯어본 메모리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300" y="1803400"/>
            <a:ext cx="1676400" cy="2514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835400" y="2451100"/>
            <a:ext cx="193294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사건 발생 : "왜 내 결과만 토씨 하나 안 틀리고 똑같을까?"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283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48300" y="4876800"/>
            <a:ext cx="3048000" cy="10033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cap="all">
                <a:solidFill>
                  <a:srgbClr val="FFFFFF"/>
                </a:solidFill>
                <a:latin typeface="Anek Bangla Expanded SemiBold"/>
                <a:ea typeface="Anek Bangla Expanded SemiBold"/>
                <a:cs typeface="Anek Bangla Expanded SemiBold"/>
              </a:rPr>
              <a:t>step 1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4200" y="4432300"/>
            <a:ext cx="8623300" cy="1803400"/>
          </a:xfrm>
          <a:prstGeom prst="rect">
            <a:avLst/>
          </a:prstGeom>
          <a:effectLst>
            <a:outerShdw dist="110978" dir="5400000">
              <a:srgbClr val="E6E6E6">
                <a:alpha val="100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1778000" y="4737100"/>
            <a:ext cx="8686800" cy="698500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lvl="0" algn="ctr">
              <a:lnSpc>
                <a:spcPct val="1078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콘솔 출력결과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5300" y="6515100"/>
            <a:ext cx="10972800" cy="1346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7170400" y="4876800"/>
            <a:ext cx="3048000" cy="10033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cap="all">
                <a:solidFill>
                  <a:srgbClr val="FFFFFF"/>
                </a:solidFill>
                <a:latin typeface="Anek Bangla Expanded SemiBold"/>
                <a:ea typeface="Anek Bangla Expanded SemiBold"/>
                <a:cs typeface="Anek Bangla Expanded SemiBold"/>
              </a:rPr>
              <a:t>step 1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76300" y="4432300"/>
            <a:ext cx="8623300" cy="3568700"/>
          </a:xfrm>
          <a:prstGeom prst="rect">
            <a:avLst/>
          </a:prstGeom>
          <a:effectLst>
            <a:outerShdw dist="219612" dir="5400000">
              <a:srgbClr val="E6E6E6">
                <a:alpha val="100000"/>
              </a:srgbClr>
            </a:outerShdw>
          </a:effectLst>
        </p:spPr>
      </p:pic>
      <p:sp>
        <p:nvSpPr>
          <p:cNvPr id="14" name="TextBox 14"/>
          <p:cNvSpPr txBox="1"/>
          <p:nvPr/>
        </p:nvSpPr>
        <p:spPr>
          <a:xfrm>
            <a:off x="13589000" y="4432300"/>
            <a:ext cx="8686800" cy="3771900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lvl="0" algn="ctr">
              <a:lnSpc>
                <a:spcPct val="1078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기존 연산 코드
 total_sum = sum(              
                            self.data[r][c] * pathern.data[r][c]
                            for r in range(self.n)
                            for c in range(self.n))
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0" y="10325100"/>
            <a:ext cx="21361400" cy="2095500"/>
          </a:xfrm>
          <a:prstGeom prst="rect">
            <a:avLst/>
          </a:prstGeom>
          <a:effectLst>
            <a:outerShdw dist="193431" dir="5400000">
              <a:srgbClr val="D8D8D8">
                <a:alpha val="100000"/>
              </a:srgbClr>
            </a:outerShdw>
          </a:effectLst>
        </p:spPr>
      </p:pic>
      <p:sp>
        <p:nvSpPr>
          <p:cNvPr id="16" name="TextBox 16"/>
          <p:cNvSpPr txBox="1"/>
          <p:nvPr/>
        </p:nvSpPr>
        <p:spPr>
          <a:xfrm>
            <a:off x="2032000" y="10680700"/>
            <a:ext cx="204724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문제의 본질:서로 완전히 다른 geometric 패턴(십자가 vs 대각선)임에도 불과하고 연산 결과값이 소수점17자리까지 쌍둥이처럼 일치함.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32000" y="11214100"/>
            <a:ext cx="20472400" cy="111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컴퓨터에서 0.1 연산 시 미세 오차가 발생하는 것은 당연하지만, 서로 다른 패턴이 소수점 17자리까지 100% 똑같아지는 현상은 단순 오차로 설명되지 않는 의문이었습니다.(그냥 반올림 된건가...? / sum() 이 문제인가..?)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8600" y="4673600"/>
            <a:ext cx="8674100" cy="7404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66900" y="5054600"/>
            <a:ext cx="279400" cy="279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37700" y="5054600"/>
            <a:ext cx="279400" cy="279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17700" y="8216900"/>
            <a:ext cx="7835900" cy="76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20900" y="6692900"/>
            <a:ext cx="457200" cy="40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20900" y="9740900"/>
            <a:ext cx="457200" cy="406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860800" y="2451100"/>
            <a:ext cx="139319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비트 진단 — float.hex()로 뜯어본 메모리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5600" y="1803400"/>
            <a:ext cx="1676400" cy="2514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566900" y="4699000"/>
            <a:ext cx="7734300" cy="990600"/>
          </a:xfrm>
          <a:prstGeom prst="rect">
            <a:avLst/>
          </a:prstGeom>
        </p:spPr>
        <p:txBody>
          <a:bodyPr lIns="0" tIns="17780" rIns="0" bIns="17780" rtlCol="0" anchor="ctr"/>
          <a:lstStyle/>
          <a:p>
            <a:pPr lvl="0" algn="ctr">
              <a:lnSpc>
                <a:spcPct val="107899"/>
              </a:lnSpc>
            </a:pPr>
            <a:r>
              <a:rPr lang="en-US" sz="27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IEEE 754 64비트(FP64) 가수부 52비트 직접 추출 및 메모리 대조64비트 구조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671800" y="6210300"/>
            <a:ext cx="6477000" cy="1447800"/>
          </a:xfrm>
          <a:prstGeom prst="rect">
            <a:avLst/>
          </a:prstGeom>
        </p:spPr>
        <p:txBody>
          <a:bodyPr lIns="0" tIns="37254" rIns="0" bIns="37254" rtlCol="0" anchor="ctr"/>
          <a:lstStyle/>
          <a:p>
            <a:pPr lvl="0" algn="l">
              <a:lnSpc>
                <a:spcPct val="99600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단순 출력 시 소수점 자릿수가 잘려서 똑같이 보이는 것이 아니라, 실제 메모리에 들어간 52비트 열 자체가 100%완전 동일함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671800" y="8877300"/>
            <a:ext cx="7137400" cy="1981200"/>
          </a:xfrm>
          <a:prstGeom prst="rect">
            <a:avLst/>
          </a:prstGeom>
        </p:spPr>
        <p:txBody>
          <a:bodyPr lIns="0" tIns="38948" rIns="0" bIns="38948" rtlCol="0" anchor="ctr"/>
          <a:lstStyle/>
          <a:p>
            <a:pPr lvl="0" algn="l">
              <a:lnSpc>
                <a:spcPct val="99600"/>
              </a:lnSpc>
            </a:pPr>
            <a:r>
              <a:rPr lang="en-US" sz="3066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의문 점:
"공간적 배열이 완전히 다른 두 패턴이 어떻게 IEEE 754 반올림 최하위 1비트(1 ULP) 조차 틀리지 않고 동일한 비트 패턴에 도달했을까?"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3800" y="5054600"/>
            <a:ext cx="12776200" cy="2844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0" y="9842500"/>
            <a:ext cx="9613900" cy="825500"/>
          </a:xfrm>
          <a:prstGeom prst="rect">
            <a:avLst/>
          </a:prstGeom>
          <a:effectLst>
            <a:outerShdw dist="127000" dir="5400000">
              <a:srgbClr val="D8D8D8">
                <a:alpha val="100000"/>
              </a:srgbClr>
            </a:outerShdw>
          </a:effectLst>
        </p:spPr>
      </p:pic>
      <p:sp>
        <p:nvSpPr>
          <p:cNvPr id="19" name="TextBox 19"/>
          <p:cNvSpPr txBox="1"/>
          <p:nvPr/>
        </p:nvSpPr>
        <p:spPr>
          <a:xfrm>
            <a:off x="3594100" y="9855200"/>
            <a:ext cx="8318500" cy="8255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en-US" sz="2666" b="0" i="0" u="none" strike="noStrike" cap="all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SUM()이 문제이구나!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8897600" y="5969000"/>
            <a:ext cx="5041900" cy="2400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7703800" y="5969000"/>
            <a:ext cx="5041900" cy="2400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1300" y="10325100"/>
            <a:ext cx="21361400" cy="2095500"/>
          </a:xfrm>
          <a:prstGeom prst="rect">
            <a:avLst/>
          </a:prstGeom>
          <a:effectLst>
            <a:outerShdw dist="193431" dir="5400000">
              <a:srgbClr val="D8D8D8">
                <a:alpha val="10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00" y="2336800"/>
            <a:ext cx="7886700" cy="6832600"/>
          </a:xfrm>
          <a:prstGeom prst="rect">
            <a:avLst/>
          </a:prstGeom>
          <a:effectLst>
            <a:outerShdw dist="108373" dir="5400000">
              <a:srgbClr val="D8D8D8">
                <a:alpha val="100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1752600" y="6934200"/>
            <a:ext cx="15392400" cy="3556000"/>
          </a:xfrm>
          <a:prstGeom prst="rect">
            <a:avLst/>
          </a:prstGeom>
        </p:spPr>
        <p:txBody>
          <a:bodyPr lIns="0" tIns="135467" rIns="0" bIns="135467" rtlCol="0" anchor="ctr"/>
          <a:lstStyle/>
          <a:p>
            <a:pPr lvl="0" algn="l">
              <a:lnSpc>
                <a:spcPct val="99600"/>
              </a:lnSpc>
            </a:pPr>
            <a:r>
              <a:rPr lang="en-US" sz="10666" b="0" i="0" u="none" strike="noStrike" spc="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연산 순서를 바꾸니 결과가 달라졌다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84400" y="10807700"/>
            <a:ext cx="13462000" cy="111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실험 1 — 4가지 연산 방식 비교 (결합법칙 미성립 증명)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실험 2 — 가수부 경계 절삭 기초 실험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D8D8D8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5943600"/>
            <a:ext cx="21361400" cy="647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500" y="4038600"/>
            <a:ext cx="381000" cy="330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69500" y="4076700"/>
            <a:ext cx="381000" cy="330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848100" y="2451100"/>
            <a:ext cx="187833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실험 1 — 4가지 연산 방식 비교 (결합법칙 미성립 증명)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1803400"/>
            <a:ext cx="1892300" cy="2514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2600" y="6032500"/>
            <a:ext cx="12763500" cy="662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7700"/>
              </a:lnSpc>
            </a:pPr>
            <a:r>
              <a:rPr lang="en-US" sz="1737" b="1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방식 1 (기존): 행 우선 sum()
s1 = sum(data[r][c] * pat[r][c] for r in range(n) for c in range(n))
방식 A (열 우선 loop):
for c in range(n):
    for r in range(n): total_sum += data[r][c] * pat[r][c]
방식 B (행별 부분합 후 누적):
for r in range(n):
    row_sum = sum(data[r][c] * pat[r][c] for c in range(n))
    total_sum += row_sum
방식 C (행 우선 loop):
for r in range(n):
    for c in range(n): total_sum += data[r][c] * pat[r][c]
</a:t>
            </a:r>
            <a:br>
              <a:rPr lang="en-US" sz="1737" b="1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</a:br>
            <a:endParaRPr lang="en-US" sz="1737" b="1" i="0" u="none" strike="noStrike" spc="-10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38300" y="4330700"/>
            <a:ext cx="216154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연산 순서와 방식을 다르게 변경하여 부동소수점 결합법칙((a+b)+c == a+(b+c)) 미성립 실제 발현 확인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23300" y="6261100"/>
            <a:ext cx="13931900" cy="363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5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| **실험 방식** | **코드 구조 특징** | **size_5_1 (Cross vs X)** | **비트 동일 여부** | **판정 결과** |</a:t>
            </a:r>
          </a:p>
          <a:p>
            <a:pPr lvl="0" algn="ctr">
              <a:lnSpc>
                <a:spcPct val="116199"/>
              </a:lnSpc>
            </a:pPr>
            <a:endParaRPr lang="en-US" sz="2253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r>
              <a:rPr lang="en-US" sz="225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| **방식 1 (기존)** | Generator + `sum()` (행 우선) | `0.900...02` / `0.900...02` | **True** | **FAIL (동점)** |</a:t>
            </a:r>
          </a:p>
          <a:p>
            <a:pPr lvl="0" algn="ctr">
              <a:lnSpc>
                <a:spcPct val="116199"/>
              </a:lnSpc>
            </a:pPr>
            <a:endParaRPr lang="en-US" sz="2253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r>
              <a:rPr lang="en-US" sz="225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| **방식 A** | 이중 `for`문 (열 우선 누적) | `9.000...17` / `8.999...98`* | **False** | **PASS (차이 발생)** |</a:t>
            </a:r>
          </a:p>
          <a:p>
            <a:pPr lvl="0" algn="ctr">
              <a:lnSpc>
                <a:spcPct val="116199"/>
              </a:lnSpc>
            </a:pPr>
            <a:endParaRPr lang="en-US" sz="2253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r>
              <a:rPr lang="en-US" sz="225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| **방식 B** | `row_sum` 부분합 후 누적 | `0.900...02` / `0.899...91` | **False** | **PASS (차이 발생)** |</a:t>
            </a:r>
          </a:p>
          <a:p>
            <a:pPr lvl="0" algn="ctr">
              <a:lnSpc>
                <a:spcPct val="116199"/>
              </a:lnSpc>
            </a:pPr>
            <a:endParaRPr lang="en-US" sz="2253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r>
              <a:rPr lang="en-US" sz="225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| **방식 C** | 이중 `for`문 (행 우선 즉시 누적) | `0.900...02` / `0.899...91` | **False** | **PASS (차이 발생)** |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85200" y="10718800"/>
            <a:ext cx="13868400" cy="139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57" b="1" i="0" u="none" strike="noStrike">
                <a:solidFill>
                  <a:srgbClr val="000000"/>
                </a:solidFill>
                <a:latin typeface="210 GGotmangul Regular"/>
                <a:ea typeface="210 GGotmangul Regular"/>
                <a:cs typeface="210 GGotmangul Regular"/>
              </a:rPr>
              <a:t>방식 A 수치의 스케일 변환 차이는 열 우선 축 변환 시 발생한 인덱스 가중치 재배치 효과를 보여줌.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D8D8D8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5194300"/>
            <a:ext cx="21361400" cy="647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500" y="4038600"/>
            <a:ext cx="381000" cy="330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69500" y="4076700"/>
            <a:ext cx="381000" cy="330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848100" y="2451100"/>
            <a:ext cx="132715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en-US" sz="6666" b="0" i="0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실험 2 — 가수부 경계 절삭 기초 실험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1803400"/>
            <a:ext cx="1892300" cy="2514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8300" y="4330700"/>
            <a:ext cx="216154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큰 수(2^53)와 작은 수(1.0)의 연산 순서에 따른 비트 절삭 소멸 확인.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400" y="5435600"/>
            <a:ext cx="13931900" cy="5245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25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big_num = float(2**53) 
 # 53비트 가수부가 꽉 찬 상태 (9007199254740992.0)
small_nums = [1.0] * 5
# 방식 A: 큰 수 먼저 더하기 (작은 수가 52비트 가수부 밖으로 밀려남)
sum_A = big_num
for s in small_nums: sum_A += s
# 방식 B: 작은 수들을 먼저 다 더하고 큰 수 더하기
sum_B = sum(small_nums) + big_num
print(f"방식 A Hex : {sum_A.hex()}")
print(f"방식 B Hex : {sum_B.hex()}")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79300" y="5435600"/>
            <a:ext cx="10490200" cy="143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1300" y="10325100"/>
            <a:ext cx="21361400" cy="2095500"/>
          </a:xfrm>
          <a:prstGeom prst="rect">
            <a:avLst/>
          </a:prstGeom>
          <a:effectLst>
            <a:outerShdw dist="193431" dir="5400000">
              <a:srgbClr val="D8D8D8">
                <a:alpha val="100000"/>
              </a:srgbClr>
            </a:outerShdw>
          </a:effectLst>
        </p:spPr>
      </p:pic>
      <p:sp>
        <p:nvSpPr>
          <p:cNvPr id="15" name="TextBox 15"/>
          <p:cNvSpPr txBox="1"/>
          <p:nvPr/>
        </p:nvSpPr>
        <p:spPr>
          <a:xfrm>
            <a:off x="2171700" y="10452100"/>
            <a:ext cx="20612100" cy="182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결합법칙 미성립의 명확한 증거:</a:t>
            </a:r>
            <a:br>
              <a:rPr lang="en-US" sz="24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4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"연산 순서만 바꿨을 뿐인데 100% 동일해야 할 계산 결과의 비트가 False(불일치)로 갈라진다"는 직관적인 증명을 제시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Cross 필터와 X 필터는 누적되는 데이터의 순서와 공간적 배치가 다릅니다. 이 차이로 인해 C-Level 누적(sum())과 Python-Level 누적(loop())이 거치는 중간 누적값의 스케일 변화 및 반올림(Round) 지점이 서로 달라지게 됨을 암시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20600" y="7175500"/>
            <a:ext cx="86106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8897600" y="5969000"/>
            <a:ext cx="5041900" cy="2400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7703800" y="5969000"/>
            <a:ext cx="5041900" cy="2400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1300" y="10325100"/>
            <a:ext cx="21361400" cy="2095500"/>
          </a:xfrm>
          <a:prstGeom prst="rect">
            <a:avLst/>
          </a:prstGeom>
          <a:effectLst>
            <a:outerShdw dist="193431" dir="5400000">
              <a:srgbClr val="D8D8D8">
                <a:alpha val="10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1900" y="12700"/>
            <a:ext cx="7886700" cy="6832600"/>
          </a:xfrm>
          <a:prstGeom prst="rect">
            <a:avLst/>
          </a:prstGeom>
          <a:effectLst>
            <a:outerShdw dist="108373" dir="5400000">
              <a:srgbClr val="D8D8D8">
                <a:alpha val="100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1270000" y="5981700"/>
            <a:ext cx="20650200" cy="3695700"/>
          </a:xfrm>
          <a:prstGeom prst="rect">
            <a:avLst/>
          </a:prstGeom>
        </p:spPr>
        <p:txBody>
          <a:bodyPr lIns="0" tIns="96520" rIns="0" bIns="96520" rtlCol="0" anchor="ctr"/>
          <a:lstStyle/>
          <a:p>
            <a:pPr lvl="0" algn="l">
              <a:lnSpc>
                <a:spcPct val="99600"/>
              </a:lnSpc>
            </a:pPr>
            <a:r>
              <a:rPr lang="en-US" sz="76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반전의 원인:
sum()이 틀린 게 아니었다 : sum() 너 뭔데?
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84400" y="11087100"/>
            <a:ext cx="14795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파이썬 공식 문서로 본 sum() 함수 내부 연산 매커니즘의 버전별 변화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D8D8D8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5943600"/>
            <a:ext cx="21361400" cy="647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4229100"/>
            <a:ext cx="381000" cy="330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22300" y="4229100"/>
            <a:ext cx="381000" cy="330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848100" y="2413000"/>
            <a:ext cx="19469100" cy="1765300"/>
          </a:xfrm>
          <a:prstGeom prst="rect">
            <a:avLst/>
          </a:prstGeom>
        </p:spPr>
        <p:txBody>
          <a:bodyPr lIns="0" tIns="45720" rIns="0" bIns="45720" rtlCol="0" anchor="ctr"/>
          <a:lstStyle/>
          <a:p>
            <a:pPr lvl="0" algn="l">
              <a:lnSpc>
                <a:spcPct val="99600"/>
              </a:lnSpc>
            </a:pPr>
            <a:r>
              <a:rPr lang="en-US" sz="3600" b="0" i="0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반전의 원인:
sum()이 틀린 게 아니었다 : C-Level 누적 vs Python In-place 누적
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1803400"/>
            <a:ext cx="1739900" cy="2514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81000" y="6832600"/>
            <a:ext cx="9398000" cy="436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7700"/>
              </a:lnSpc>
            </a:pPr>
            <a:r>
              <a:rPr lang="en-US" sz="2670" b="1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반전: sum()이 에러를 낸 것이 아니라, C-level 누적기를 거치며
 Cross와 X 대칭 패턴 모두 동일한 IEEE 754 반올림 결과(`0x1.ccccccccccccdp-1`)에 도달한 것!
- 명시적 `loop()`: Python 레벨 객체 누적 과정을 거치며 X 패턴 연산 시 반올림 경로가 미세하게 달라져 1 ULP 아래인 0.89999999999999991$ (`0x1.cccccccccccccp-1`)로 갈라짐.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00" y="6845300"/>
            <a:ext cx="11023600" cy="4368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667000" y="4521200"/>
            <a:ext cx="148971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algn="ctr">
              <a:lnSpc>
                <a:spcPct val="132800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Step별 오차 추적 콘솔 로그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D8D8D8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5943600"/>
            <a:ext cx="21361400" cy="647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0" y="4330700"/>
            <a:ext cx="381000" cy="330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48200" y="4330700"/>
            <a:ext cx="381000" cy="330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848100" y="2413000"/>
            <a:ext cx="19469100" cy="1765300"/>
          </a:xfrm>
          <a:prstGeom prst="rect">
            <a:avLst/>
          </a:prstGeom>
        </p:spPr>
        <p:txBody>
          <a:bodyPr lIns="0" tIns="45720" rIns="0" bIns="45720" rtlCol="0" anchor="ctr"/>
          <a:lstStyle/>
          <a:p>
            <a:pPr lvl="0" algn="l">
              <a:lnSpc>
                <a:spcPct val="99600"/>
              </a:lnSpc>
            </a:pPr>
            <a:r>
              <a:rPr lang="en-US" sz="3600" b="0" i="0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반전의 원인:
sum()이 틀린 게 아니었다 : C-Level 누적 vs Python In-place 누적
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1803400"/>
            <a:ext cx="1739900" cy="2514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4470400"/>
            <a:ext cx="216154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algn="ctr">
              <a:lnSpc>
                <a:spcPct val="132800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https://docs.python.org/3/whatsnew/3.12.html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17800" y="6845300"/>
            <a:ext cx="17538700" cy="3759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D8D8D8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5943600"/>
            <a:ext cx="21361400" cy="647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3700" y="4178300"/>
            <a:ext cx="381000" cy="330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42100" y="4178300"/>
            <a:ext cx="381000" cy="330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848100" y="2413000"/>
            <a:ext cx="19469100" cy="1765300"/>
          </a:xfrm>
          <a:prstGeom prst="rect">
            <a:avLst/>
          </a:prstGeom>
        </p:spPr>
        <p:txBody>
          <a:bodyPr lIns="0" tIns="45720" rIns="0" bIns="45720" rtlCol="0" anchor="ctr"/>
          <a:lstStyle/>
          <a:p>
            <a:pPr lvl="0" algn="l">
              <a:lnSpc>
                <a:spcPct val="99600"/>
              </a:lnSpc>
            </a:pPr>
            <a:r>
              <a:rPr lang="en-US" sz="3600" b="0" i="0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반전의 원인:
sum()이 틀린 게 아니었다 : C-Level 누적 vs Python In-place 누적
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1803400"/>
            <a:ext cx="1739900" cy="2514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8300" y="4330700"/>
            <a:ext cx="216154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algn="ctr">
              <a:lnSpc>
                <a:spcPct val="132800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파이썬 공식 문서로 본 sum() 함수 내부 연산 매커니즘의 버전별 변화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3900" y="6121400"/>
            <a:ext cx="14719300" cy="1320800"/>
          </a:xfrm>
          <a:prstGeom prst="rect">
            <a:avLst/>
          </a:prstGeom>
          <a:effectLst>
            <a:outerShdw dist="81280" dir="5400000">
              <a:srgbClr val="E6E6E6">
                <a:alpha val="100000"/>
              </a:srgbClr>
            </a:outerShdw>
          </a:effectLst>
        </p:spPr>
      </p:pic>
      <p:sp>
        <p:nvSpPr>
          <p:cNvPr id="13" name="TextBox 13"/>
          <p:cNvSpPr txBox="1"/>
          <p:nvPr/>
        </p:nvSpPr>
        <p:spPr>
          <a:xfrm>
            <a:off x="4051300" y="6400800"/>
            <a:ext cx="15087600" cy="520700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lvl="0" algn="ctr">
              <a:lnSpc>
                <a:spcPct val="107899"/>
              </a:lnSpc>
            </a:pPr>
            <a:r>
              <a:rPr lang="en-US" sz="2717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Python 3.8:매개변수를 키워드 인자(sum(iterable, start=0))로 지정 가능하도록 개선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4500" y="8077200"/>
            <a:ext cx="20358100" cy="1320800"/>
          </a:xfrm>
          <a:prstGeom prst="rect">
            <a:avLst/>
          </a:prstGeom>
          <a:effectLst>
            <a:outerShdw dist="81280" dir="5400000">
              <a:srgbClr val="E6E6E6">
                <a:alpha val="100000"/>
              </a:srgbClr>
            </a:outerShdw>
          </a:effectLst>
        </p:spPr>
      </p:pic>
      <p:sp>
        <p:nvSpPr>
          <p:cNvPr id="15" name="TextBox 15"/>
          <p:cNvSpPr txBox="1"/>
          <p:nvPr/>
        </p:nvSpPr>
        <p:spPr>
          <a:xfrm>
            <a:off x="1765300" y="8128000"/>
            <a:ext cx="21158200" cy="876300"/>
          </a:xfrm>
          <a:prstGeom prst="rect">
            <a:avLst/>
          </a:prstGeom>
        </p:spPr>
        <p:txBody>
          <a:bodyPr lIns="0" tIns="15566" rIns="0" bIns="15566" rtlCol="0" anchor="ctr"/>
          <a:lstStyle/>
          <a:p>
            <a:pPr lvl="0" algn="ctr">
              <a:lnSpc>
                <a:spcPct val="107899"/>
              </a:lnSpc>
            </a:pPr>
            <a:r>
              <a:rPr lang="en-US" sz="2451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Python 3.12: 부동소수점 누적 방식이 더 높은 정밀도와 우수한 교환법칙을 보장하는 정교한 누적 알고리즘으로 전면 교체됨. 
(이로 인해 순서에 따른 중간 오차가 보정되면서 Cross와 X의 결과 비트가 완전히 하나로 수렴할 확률이 더욱 높아짐)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8900" y="10198100"/>
            <a:ext cx="15989300" cy="1320800"/>
          </a:xfrm>
          <a:prstGeom prst="rect">
            <a:avLst/>
          </a:prstGeom>
          <a:effectLst>
            <a:outerShdw dist="81280" dir="5400000">
              <a:srgbClr val="E6E6E6">
                <a:alpha val="100000"/>
              </a:srgbClr>
            </a:outerShdw>
          </a:effectLst>
        </p:spPr>
      </p:pic>
      <p:sp>
        <p:nvSpPr>
          <p:cNvPr id="17" name="TextBox 17"/>
          <p:cNvSpPr txBox="1"/>
          <p:nvPr/>
        </p:nvSpPr>
        <p:spPr>
          <a:xfrm>
            <a:off x="4140200" y="10452100"/>
            <a:ext cx="16090900" cy="520700"/>
          </a:xfrm>
          <a:prstGeom prst="rect">
            <a:avLst/>
          </a:prstGeom>
        </p:spPr>
        <p:txBody>
          <a:bodyPr lIns="0" tIns="23706" rIns="0" bIns="23706" rtlCol="0" anchor="ctr"/>
          <a:lstStyle/>
          <a:p>
            <a:pPr lvl="0" algn="ctr">
              <a:lnSpc>
                <a:spcPct val="107899"/>
              </a:lnSpc>
            </a:pPr>
            <a:r>
              <a:rPr lang="en-US" sz="2717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Python 3.14: 복소수(complex) 연산에서도 float과 동일한 정밀도/교환법칙 강화 알고리즘 특화 적용.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8897600" y="5969000"/>
            <a:ext cx="5041900" cy="2400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7703800" y="5969000"/>
            <a:ext cx="5041900" cy="2400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1300" y="10325100"/>
            <a:ext cx="21361400" cy="2095500"/>
          </a:xfrm>
          <a:prstGeom prst="rect">
            <a:avLst/>
          </a:prstGeom>
          <a:effectLst>
            <a:outerShdw dist="193431" dir="5400000">
              <a:srgbClr val="D8D8D8">
                <a:alpha val="10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1900" y="12700"/>
            <a:ext cx="7886700" cy="6832600"/>
          </a:xfrm>
          <a:prstGeom prst="rect">
            <a:avLst/>
          </a:prstGeom>
          <a:effectLst>
            <a:outerShdw dist="108373" dir="5400000">
              <a:srgbClr val="D8D8D8">
                <a:alpha val="100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1270000" y="7137400"/>
            <a:ext cx="20650200" cy="1384300"/>
          </a:xfrm>
          <a:prstGeom prst="rect">
            <a:avLst/>
          </a:prstGeom>
        </p:spPr>
        <p:txBody>
          <a:bodyPr lIns="0" tIns="96520" rIns="0" bIns="96520" rtlCol="0" anchor="ctr"/>
          <a:lstStyle/>
          <a:p>
            <a:pPr lvl="0" algn="l">
              <a:lnSpc>
                <a:spcPct val="99600"/>
              </a:lnSpc>
            </a:pPr>
            <a:r>
              <a:rPr lang="en-US" sz="76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NPU 오버헤드와 Python 순회 최적화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84400" y="10807700"/>
            <a:ext cx="14795500" cy="111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쿠키 1 :NPU 오버헤드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쿠키 2: 외부 라이브러리 없이 Python 순회 최적화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6100" y="4445000"/>
            <a:ext cx="8674100" cy="7404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1700" y="4826000"/>
            <a:ext cx="279400" cy="279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4826000"/>
            <a:ext cx="279400" cy="279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5200" y="7975600"/>
            <a:ext cx="7835900" cy="76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5700" y="6451600"/>
            <a:ext cx="457200" cy="40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5700" y="8521700"/>
            <a:ext cx="457200" cy="406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670300" y="2501900"/>
            <a:ext cx="18567400" cy="11049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쿠키1: NPU 오버헤드의 함정 — (1000 x 1000) vs(13 x 13)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0200" y="1803400"/>
            <a:ext cx="1739900" cy="2514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84400" y="4699000"/>
            <a:ext cx="7734300" cy="533400"/>
          </a:xfrm>
          <a:prstGeom prst="rect">
            <a:avLst/>
          </a:prstGeom>
        </p:spPr>
        <p:txBody>
          <a:bodyPr lIns="0" tIns="17780" rIns="0" bIns="17780" rtlCol="0" anchor="ctr"/>
          <a:lstStyle/>
          <a:p>
            <a:pPr lvl="0" algn="ctr">
              <a:lnSpc>
                <a:spcPct val="107899"/>
              </a:lnSpc>
            </a:pPr>
            <a:r>
              <a:rPr lang="en-US" sz="27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3대 고정 오버헤드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76600" y="6413500"/>
            <a:ext cx="6477000" cy="558800"/>
          </a:xfrm>
          <a:prstGeom prst="rect">
            <a:avLst/>
          </a:prstGeom>
        </p:spPr>
        <p:txBody>
          <a:bodyPr lIns="0" tIns="37254" rIns="0" bIns="37254" rtlCol="0" anchor="ctr"/>
          <a:lstStyle/>
          <a:p>
            <a:pPr lvl="0" algn="l">
              <a:lnSpc>
                <a:spcPct val="99600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CPU 명령 및 API 호출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11500" y="8369300"/>
            <a:ext cx="7137400" cy="571500"/>
          </a:xfrm>
          <a:prstGeom prst="rect">
            <a:avLst/>
          </a:prstGeom>
        </p:spPr>
        <p:txBody>
          <a:bodyPr lIns="0" tIns="38947" rIns="0" bIns="38947" rtlCol="0" anchor="ctr"/>
          <a:lstStyle/>
          <a:p>
            <a:pPr lvl="0" algn="l">
              <a:lnSpc>
                <a:spcPct val="99600"/>
              </a:lnSpc>
            </a:pPr>
            <a:r>
              <a:rPr lang="en-US" sz="3066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PCIe 버스 및 컨트롤러 통신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5200" y="9436100"/>
            <a:ext cx="7835900" cy="76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5700" y="10325100"/>
            <a:ext cx="457200" cy="406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111500" y="10172700"/>
            <a:ext cx="7137400" cy="571500"/>
          </a:xfrm>
          <a:prstGeom prst="rect">
            <a:avLst/>
          </a:prstGeom>
        </p:spPr>
        <p:txBody>
          <a:bodyPr lIns="0" tIns="38947" rIns="0" bIns="38947" rtlCol="0" anchor="ctr"/>
          <a:lstStyle/>
          <a:p>
            <a:pPr lvl="0" algn="l">
              <a:lnSpc>
                <a:spcPct val="99600"/>
              </a:lnSpc>
            </a:pPr>
            <a:r>
              <a:rPr lang="en-US" sz="3066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Host-to-Device 데이터 전송</a:t>
            </a:r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11150600" y="4483100"/>
          <a:ext cx="11420475" cy="5210105"/>
        </p:xfrm>
        <a:graphic>
          <a:graphicData uri="http://schemas.openxmlformats.org/drawingml/2006/table">
            <a:tbl>
              <a:tblPr/>
              <a:tblGrid>
                <a:gridCol w="2724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3670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208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연산규모</a:t>
                      </a:r>
                      <a:endParaRPr lang="en-US" sz="1100"/>
                    </a:p>
                  </a:txBody>
                  <a:tcPr marL="25400" marR="25400" marT="66768" marB="66768" anchor="ctr">
                    <a:lnL w="16343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343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6343">
                      <a:solidFill>
                        <a:srgbClr val="C2C2C2"/>
                      </a:solidFill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373" b="0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대규모
(1000*1000)</a:t>
                      </a:r>
                      <a:endParaRPr lang="en-US" sz="1100"/>
                    </a:p>
                  </a:txBody>
                  <a:tcPr marL="25400" marR="25400" marT="69869" marB="69869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B8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373" b="0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소규모
(13*13)</a:t>
                      </a:r>
                      <a:endParaRPr lang="en-US" sz="1100"/>
                    </a:p>
                  </a:txBody>
                  <a:tcPr marL="25400" marR="25400" marT="69869" marB="6986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6706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2375" b="0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CPU</a:t>
                      </a:r>
                      <a:endParaRPr lang="en-US" sz="1100"/>
                    </a:p>
                  </a:txBody>
                  <a:tcPr marL="25400" marR="25400" marT="85746" marB="8574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B8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215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5ms</a:t>
                      </a:r>
                      <a:endParaRPr lang="en-US" sz="1100"/>
                    </a:p>
                  </a:txBody>
                  <a:tcPr marL="25400" marR="25400" marT="66903" marB="66903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215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0.001ms</a:t>
                      </a:r>
                      <a:endParaRPr lang="en-US" sz="1100"/>
                    </a:p>
                  </a:txBody>
                  <a:tcPr marL="25400" marR="25400" marT="66903" marB="66903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706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2375" b="0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오버헤드</a:t>
                      </a:r>
                      <a:endParaRPr lang="en-US" sz="1100"/>
                    </a:p>
                  </a:txBody>
                  <a:tcPr marL="25400" marR="25400" marT="85746" marB="8574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B8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208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0.01ms</a:t>
                      </a:r>
                      <a:endParaRPr lang="en-US" sz="1100"/>
                    </a:p>
                  </a:txBody>
                  <a:tcPr marL="25400" marR="25400" marT="66768" marB="6676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208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0.01ms</a:t>
                      </a:r>
                      <a:endParaRPr lang="en-US" sz="1100"/>
                    </a:p>
                  </a:txBody>
                  <a:tcPr marL="25400" marR="25400" marT="66768" marB="66768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6706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2375" b="0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NPU</a:t>
                      </a:r>
                      <a:endParaRPr lang="en-US" sz="1100"/>
                    </a:p>
                  </a:txBody>
                  <a:tcPr marL="25400" marR="25400" marT="85746" marB="8574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B8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208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1</a:t>
                      </a:r>
                      <a:endParaRPr lang="en-US" sz="1100"/>
                    </a:p>
                  </a:txBody>
                  <a:tcPr marL="25400" marR="25400" marT="66768" marB="6676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208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0.0001ms</a:t>
                      </a:r>
                      <a:endParaRPr lang="en-US" sz="1100"/>
                    </a:p>
                  </a:txBody>
                  <a:tcPr marL="25400" marR="25400" marT="66768" marB="66768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3281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2375" b="0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결과</a:t>
                      </a:r>
                      <a:endParaRPr lang="en-US" sz="1100"/>
                    </a:p>
                  </a:txBody>
                  <a:tcPr marL="25400" marR="25400" marT="85746" marB="8574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B8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208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NPU가 5배 우세!</a:t>
                      </a:r>
                      <a:endParaRPr lang="en-US" sz="1100"/>
                    </a:p>
                  </a:txBody>
                  <a:tcPr marL="25400" marR="25400" marT="66768" marB="6676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208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CPU가 10배 우세! (오버헤드가 전체의 99%)</a:t>
                      </a:r>
                      <a:endParaRPr lang="en-US" sz="1100"/>
                    </a:p>
                  </a:txBody>
                  <a:tcPr marL="25400" marR="25400" marT="66768" marB="66768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21"/>
          <p:cNvSpPr txBox="1"/>
          <p:nvPr/>
        </p:nvSpPr>
        <p:spPr>
          <a:xfrm>
            <a:off x="11823700" y="9969500"/>
            <a:ext cx="112268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2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본 수치는 연산량 대비 고정 오버헤드의 비율 관계를 설명하기 위한 개념적 예시 모델입니다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5" name="TextBox 5"/>
          <p:cNvSpPr txBox="1"/>
          <p:nvPr/>
        </p:nvSpPr>
        <p:spPr>
          <a:xfrm>
            <a:off x="3860800" y="2501900"/>
            <a:ext cx="13855700" cy="11049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쿠키2: 파이썬 순회 방식별 내부 오버헤드 분석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1803400"/>
            <a:ext cx="1739900" cy="2514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498600" y="4254500"/>
          <a:ext cx="19373850" cy="4283308"/>
        </p:xfrm>
        <a:graphic>
          <a:graphicData uri="http://schemas.openxmlformats.org/drawingml/2006/table">
            <a:tbl>
              <a:tblPr/>
              <a:tblGrid>
                <a:gridCol w="5154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8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082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208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순회 방식별 </a:t>
                      </a:r>
                      <a:endParaRPr lang="en-US" sz="1100"/>
                    </a:p>
                  </a:txBody>
                  <a:tcPr marL="25400" marR="25400" marT="66768" marB="66768" anchor="ctr">
                    <a:lnL w="16343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343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6343">
                      <a:solidFill>
                        <a:srgbClr val="C2C2C2"/>
                      </a:solidFill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373" b="0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순회 방식별</a:t>
                      </a:r>
                      <a:endParaRPr lang="en-US" sz="1100"/>
                    </a:p>
                  </a:txBody>
                  <a:tcPr marL="25400" marR="25400" marT="69869" marB="69869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B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0827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2375" b="0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d1[i] * d2[i] (인덱스 순회):</a:t>
                      </a:r>
                      <a:endParaRPr lang="en-US" sz="1100"/>
                    </a:p>
                  </a:txBody>
                  <a:tcPr marL="25400" marR="25400" marT="85746" marB="8574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B8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215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루프마다 인덱스 변수 할당 + 바이트코드 재해석 + 리스트 경계 검사(Bounds Check) 수행으로 가장 느림.</a:t>
                      </a:r>
                      <a:endParaRPr lang="en-US" sz="1100"/>
                    </a:p>
                  </a:txBody>
                  <a:tcPr marL="25400" marR="25400" marT="66903" marB="66903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0827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2375" b="0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zip(d1, d2):</a:t>
                      </a:r>
                      <a:endParaRPr lang="en-US" sz="1100"/>
                    </a:p>
                  </a:txBody>
                  <a:tcPr marL="25400" marR="25400" marT="85746" marB="8574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B8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208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0- C-레벨 전용 struct 이터레이터 사용.
- 경계 검사를 생략하고 C 포인터를 전진시켜 연산 속도 향상!.01ms</a:t>
                      </a:r>
                      <a:endParaRPr lang="en-US" sz="1100"/>
                    </a:p>
                  </a:txBody>
                  <a:tcPr marL="25400" marR="25400" marT="66768" marB="6676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0827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2375" b="0" i="0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map(operator.mul, d1, d2):</a:t>
                      </a:r>
                      <a:endParaRPr lang="en-US" sz="1100"/>
                    </a:p>
                  </a:txBody>
                  <a:tcPr marL="25400" marR="25400" marT="85746" marB="8574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B8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208" b="0" i="0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파이썬 바이트코드 인터프리터를 우회하고 C 레벨 연산 및 CPU 캐시 활용을 극대화!</a:t>
                      </a:r>
                      <a:endParaRPr lang="en-US" sz="1100"/>
                    </a:p>
                  </a:txBody>
                  <a:tcPr marL="25400" marR="25400" marT="66768" marB="6676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5" name="TextBox 5"/>
          <p:cNvSpPr txBox="1"/>
          <p:nvPr/>
        </p:nvSpPr>
        <p:spPr>
          <a:xfrm>
            <a:off x="3848100" y="2501900"/>
            <a:ext cx="15481300" cy="11049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쿠키2: 파이썬 순회 방식(d1[i] * d2[i] (인덱스 순회)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1803400"/>
            <a:ext cx="1739900" cy="2514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4356100"/>
            <a:ext cx="11633200" cy="7505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5" name="TextBox 5"/>
          <p:cNvSpPr txBox="1"/>
          <p:nvPr/>
        </p:nvSpPr>
        <p:spPr>
          <a:xfrm>
            <a:off x="3848100" y="2501900"/>
            <a:ext cx="11379200" cy="11049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쿠키2: 파이썬 순회 방식(zip(d1, d2))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1803400"/>
            <a:ext cx="1739900" cy="2514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9800" y="4711700"/>
            <a:ext cx="15532100" cy="6299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5" name="TextBox 5"/>
          <p:cNvSpPr txBox="1"/>
          <p:nvPr/>
        </p:nvSpPr>
        <p:spPr>
          <a:xfrm>
            <a:off x="3860800" y="2501900"/>
            <a:ext cx="16675100" cy="11049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쿠키2: 파이썬 순회 방식(map(operator.mul, d1, d2):)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1803400"/>
            <a:ext cx="1739900" cy="2514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Anek Bangla Expanded Bold"/>
                <a:ea typeface="Anek Bangla Expanded Bold"/>
                <a:cs typeface="Anek Bangla Expanded Bold"/>
              </a:rPr>
              <a:t>CS탐구일지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368800"/>
            <a:ext cx="14820900" cy="8267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1931</Words>
  <Application>Microsoft Office PowerPoint</Application>
  <PresentationFormat>사용자 지정</PresentationFormat>
  <Paragraphs>167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41" baseType="lpstr">
      <vt:lpstr>Pretendard Black</vt:lpstr>
      <vt:lpstr>210 GGotmangul Regular</vt:lpstr>
      <vt:lpstr>Calibri</vt:lpstr>
      <vt:lpstr>Anek Bangla Expanded SemiBold</vt:lpstr>
      <vt:lpstr>Pretendard Bold</vt:lpstr>
      <vt:lpstr>Pretendard Regular</vt:lpstr>
      <vt:lpstr>Pretendard Medium</vt:lpstr>
      <vt:lpstr>Anek Bangla Expanded Bold</vt:lpstr>
      <vt:lpstr>Pretendard ExtraBold</vt:lpstr>
      <vt:lpstr>S-Core Dream 5 Medium</vt:lpstr>
      <vt:lpstr>Arial</vt:lpstr>
      <vt:lpstr>Pretendard SemiBold</vt:lpstr>
      <vt:lpstr>Pretendard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장양환</dc:creator>
  <cp:lastModifiedBy>장양환</cp:lastModifiedBy>
  <cp:revision>1</cp:revision>
  <dcterms:created xsi:type="dcterms:W3CDTF">2006-08-16T00:00:00Z</dcterms:created>
  <dcterms:modified xsi:type="dcterms:W3CDTF">2026-08-17T07:14:35Z</dcterms:modified>
</cp:coreProperties>
</file>